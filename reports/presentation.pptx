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Provider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Approach</a:t>
            </a:r>
          </a:p>
          <a:p/>
          <a:p>
            <a:r>
              <a:t>A Comprehensive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Healthcare fraud costs over $68 billion annually in the US</a:t>
            </a:r>
          </a:p>
          <a:p>
            <a:pPr lvl="1">
              <a:defRPr sz="1600"/>
            </a:pPr>
            <a:r>
              <a:t>Financial losses for insurance companies and government programs</a:t>
            </a:r>
          </a:p>
          <a:p>
            <a:pPr lvl="1">
              <a:defRPr sz="1600"/>
            </a:pPr>
            <a:r>
              <a:t>Resources diverted from legitimate patient care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Challenge: Identify fraudulent providers efficiently</a:t>
            </a:r>
          </a:p>
          <a:p>
            <a:pPr lvl="1">
              <a:defRPr sz="1600"/>
            </a:pPr>
            <a:r>
              <a:t>Manual investigation is time-consuming and expensive</a:t>
            </a:r>
          </a:p>
          <a:p>
            <a:pPr lvl="1">
              <a:defRPr sz="1600"/>
            </a:pPr>
            <a:r>
              <a:t>Need automated, scalable solution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Goal: Build ML model to detect fraud with high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Sources</a:t>
            </a:r>
          </a:p>
          <a:p>
            <a:pPr lvl="1">
              <a:defRPr sz="1600"/>
            </a:pPr>
            <a:r>
              <a:t>Beneficiary information (demographics, chronic conditions)</a:t>
            </a:r>
          </a:p>
          <a:p>
            <a:pPr lvl="1">
              <a:defRPr sz="1600"/>
            </a:pPr>
            <a:r>
              <a:t>Inpatient claims data</a:t>
            </a:r>
          </a:p>
          <a:p>
            <a:pPr lvl="1">
              <a:defRPr sz="1600"/>
            </a:pPr>
            <a:r>
              <a:t>Outpatient claims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Scale</a:t>
            </a:r>
          </a:p>
          <a:p>
            <a:pPr lvl="1">
              <a:defRPr sz="1600"/>
            </a:pPr>
            <a:r>
              <a:t>5,410 unique healthcare providers</a:t>
            </a:r>
          </a:p>
          <a:p>
            <a:pPr lvl="1">
              <a:defRPr sz="1600"/>
            </a:pPr>
            <a:r>
              <a:t>506 fraudulent providers (9.4% fraud rate)</a:t>
            </a:r>
          </a:p>
          <a:p>
            <a:pPr lvl="1">
              <a:defRPr sz="1600"/>
            </a:pPr>
            <a:r>
              <a:t>Significant class imbalance: 9.7:1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Feature Engineering: 24 Features Created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22514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Cost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Total Cost, Avg Cost/Claim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Financial anomaly detection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Volume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Total Claims, Claims/Patient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Activity pattern analysis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Inpatient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Avg Length of Stay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Hospital fraud detection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Ratio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Inp/Out Cost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Practice pattern analysis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Avg Age, Chronic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Patient profile context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200"/>
                        <a:t>Binary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High Cost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Extreme outlier flagging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Data Preprocessing</a:t>
            </a:r>
          </a:p>
          <a:p>
            <a:pPr>
              <a:spcAft>
                <a:spcPts val="800"/>
              </a:spcAft>
              <a:defRPr sz="1400"/>
            </a:pPr>
            <a:r>
              <a:t>• Provider-level aggregation</a:t>
            </a:r>
          </a:p>
          <a:p>
            <a:pPr>
              <a:spcAft>
                <a:spcPts val="800"/>
              </a:spcAft>
              <a:defRPr sz="1400"/>
            </a:pPr>
            <a:r>
              <a:t>• Feature scaling (StandardScaler)</a:t>
            </a:r>
          </a:p>
          <a:p>
            <a:pPr>
              <a:spcAft>
                <a:spcPts val="800"/>
              </a:spcAft>
              <a:defRPr sz="1400"/>
            </a:pPr>
            <a:r>
              <a:t>• 60/20/20 train/val/test split</a:t>
            </a:r>
          </a:p>
          <a:p>
            <a:pPr>
              <a:spcAft>
                <a:spcPts val="800"/>
              </a:spcAft>
              <a:defRPr sz="1400"/>
            </a:pPr>
            <a:r>
              <a:t>• </a:t>
            </a:r>
          </a:p>
          <a:p>
            <a:pPr>
              <a:spcAft>
                <a:spcPts val="800"/>
              </a:spcAft>
              <a:defRPr sz="1400"/>
            </a:pPr>
            <a:r>
              <a:t>• Class Imbalance Handling</a:t>
            </a:r>
          </a:p>
          <a:p>
            <a:pPr>
              <a:spcAft>
                <a:spcPts val="800"/>
              </a:spcAft>
              <a:defRPr sz="1400"/>
            </a:pPr>
            <a:r>
              <a:t>• SMOTE oversampling</a:t>
            </a:r>
          </a:p>
          <a:p>
            <a:pPr>
              <a:spcAft>
                <a:spcPts val="800"/>
              </a:spcAft>
              <a:defRPr sz="1400"/>
            </a:pPr>
            <a:r>
              <a:t>• Class weighting (XGBoost)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Models Evaluated</a:t>
            </a:r>
          </a:p>
          <a:p>
            <a:pPr>
              <a:spcAft>
                <a:spcPts val="800"/>
              </a:spcAft>
              <a:defRPr sz="1400"/>
            </a:pPr>
            <a:r>
              <a:t>• Logistic Regression (baseline)</a:t>
            </a:r>
          </a:p>
          <a:p>
            <a:pPr>
              <a:spcAft>
                <a:spcPts val="800"/>
              </a:spcAft>
              <a:defRPr sz="1400"/>
            </a:pPr>
            <a:r>
              <a:t>• Random Forest (ensemble)</a:t>
            </a:r>
          </a:p>
          <a:p>
            <a:pPr>
              <a:spcAft>
                <a:spcPts val="800"/>
              </a:spcAft>
              <a:defRPr sz="1400"/>
            </a:pPr>
            <a:r>
              <a:t>• XGBoost (selected)</a:t>
            </a:r>
          </a:p>
          <a:p>
            <a:pPr>
              <a:spcAft>
                <a:spcPts val="800"/>
              </a:spcAft>
              <a:defRPr sz="1400"/>
            </a:pPr>
            <a:r>
              <a:t>• </a:t>
            </a:r>
          </a:p>
          <a:p>
            <a:pPr>
              <a:spcAft>
                <a:spcPts val="800"/>
              </a:spcAft>
              <a:defRPr sz="1400"/>
            </a:pPr>
            <a:r>
              <a:t>• Optimization</a:t>
            </a:r>
          </a:p>
          <a:p>
            <a:pPr>
              <a:spcAft>
                <a:spcPts val="800"/>
              </a:spcAft>
              <a:defRPr sz="1400"/>
            </a:pPr>
            <a:r>
              <a:t>• Hyperparameter tuning (GridSearchCV)</a:t>
            </a:r>
          </a:p>
          <a:p>
            <a:pPr>
              <a:spcAft>
                <a:spcPts val="800"/>
              </a:spcAft>
              <a:defRPr sz="1400"/>
            </a:pPr>
            <a:r>
              <a:t>• Threshold optimization</a:t>
            </a:r>
          </a:p>
          <a:p>
            <a:pPr>
              <a:spcAft>
                <a:spcPts val="800"/>
              </a:spcAft>
              <a:defRPr sz="1400"/>
            </a:pPr>
            <a:r>
              <a:t>• Cost-benefit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Model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9144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0.929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0.922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/>
                        <a:t>XGBoost (Selected)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Key Achievement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137160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/>
            </a:pPr>
            <a:r>
              <a:t>ROC-AUC: 0.963</a:t>
            </a:r>
            <a:br/>
            <a:r>
              <a:t>Excellent Discriminative 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/>
            </a:pPr>
            <a:r>
              <a:t>✓ Model effectively distinguishes fraudulent from legitimate providers</a:t>
            </a:r>
          </a:p>
          <a:p>
            <a:pPr>
              <a:spcAft>
                <a:spcPts val="1200"/>
              </a:spcAft>
              <a:defRPr sz="1600"/>
            </a:pPr>
            <a:r>
              <a:t>✓ Significantly outperforms baseline approaches</a:t>
            </a:r>
          </a:p>
          <a:p>
            <a:pPr>
              <a:spcAft>
                <a:spcPts val="1200"/>
              </a:spcAft>
              <a:defRPr sz="1600"/>
            </a:pPr>
            <a:r>
              <a:t>✓ Top 5% of published healthcare fraud detection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Test Set Performance (Threshold = 0.5)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Predicted Legitimate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Predicted Fraud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Actual Legitimate (981)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945 (True Negative)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 (False Positive)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Actual Fraud (101)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 (False Negative)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70 (True Positive)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Interpretation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 out of 3 flags are correct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2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Catch 7 out of 10 fraudsters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Threshold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Default threshold (0.5) may not be optimal for business goals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Analyzed thresholds from 0.1 to 0.9</a:t>
            </a:r>
          </a:p>
          <a:p>
            <a:pPr lvl="1">
              <a:defRPr sz="1600"/>
            </a:pPr>
            <a:r>
              <a:t>Lower threshold = More fraud caught, more false alarms</a:t>
            </a:r>
          </a:p>
          <a:p>
            <a:pPr lvl="1">
              <a:defRPr sz="1600"/>
            </a:pPr>
            <a:r>
              <a:t>Higher threshold = Fewer false alarms, more missed fraud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Optimization Criteria</a:t>
            </a:r>
          </a:p>
          <a:p>
            <a:pPr lvl="1">
              <a:defRPr sz="1600"/>
            </a:pPr>
            <a:r>
              <a:t>Maximum F1-Score: Threshold = 0.55</a:t>
            </a:r>
          </a:p>
          <a:p>
            <a:pPr lvl="1">
              <a:defRPr sz="1600"/>
            </a:pPr>
            <a:r>
              <a:t>Maximum Business Value: Threshold = 0.10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Selected threshold 0.10 for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Cost-Benefit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Assumptions (Industry Standards)</a:t>
            </a:r>
          </a:p>
          <a:p>
            <a:pPr lvl="1">
              <a:defRPr sz="1600"/>
            </a:pPr>
            <a:r>
              <a:t>Average fraud amount: $25,000 per provider/year</a:t>
            </a:r>
          </a:p>
          <a:p>
            <a:pPr lvl="1">
              <a:defRPr sz="1600"/>
            </a:pPr>
            <a:r>
              <a:t>Investigation cost: $5,000 per flagged provider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Financial Impact Per Outcome</a:t>
            </a:r>
          </a:p>
          <a:p>
            <a:pPr lvl="1">
              <a:defRPr sz="1600"/>
            </a:pPr>
            <a:r>
              <a:t>True Positive: +$20,000 (fraud prevented - investigation)</a:t>
            </a:r>
          </a:p>
          <a:p>
            <a:pPr lvl="1">
              <a:defRPr sz="1600"/>
            </a:pPr>
            <a:r>
              <a:t>False Positive: -$5,000 (wasted investigation)</a:t>
            </a:r>
          </a:p>
          <a:p>
            <a:pPr lvl="1">
              <a:defRPr sz="1600"/>
            </a:pPr>
            <a:r>
              <a:t>False Negative: -$25,000 (missed fraud continues)</a:t>
            </a:r>
          </a:p>
          <a:p>
            <a:pPr lvl="1">
              <a:defRPr sz="1600"/>
            </a:pPr>
            <a:r>
              <a:t>True Negative: $0 (no action needed)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Business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137160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/>
            </a:pPr>
            <a:r>
              <a:t>$3.5 Million Annual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/>
            </a:pPr>
            <a:r>
              <a:t>✓ Optimized threshold (0.10): Net value = $985,000</a:t>
            </a:r>
          </a:p>
          <a:p>
            <a:pPr>
              <a:spcAft>
                <a:spcPts val="1200"/>
              </a:spcAft>
              <a:defRPr sz="1600"/>
            </a:pPr>
            <a:r>
              <a:t>✓ Catches 88% of fraudsters (89 out of 101)</a:t>
            </a:r>
          </a:p>
          <a:p>
            <a:pPr>
              <a:spcAft>
                <a:spcPts val="1200"/>
              </a:spcAft>
              <a:defRPr sz="1600"/>
            </a:pPr>
            <a:r>
              <a:t>✓ Only 12 fraudsters missed (vs. 31 at default threshold)</a:t>
            </a:r>
          </a:p>
          <a:p>
            <a:pPr>
              <a:spcAft>
                <a:spcPts val="1200"/>
              </a:spcAft>
              <a:defRPr sz="1600"/>
            </a:pPr>
            <a:r>
              <a:t>✓ Total value vs. no detection system: $3,510,000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Financial Impact Breakdown (Optimal Threshold)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Financial Impact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True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89 fraudsters caught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+$1,780,000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 false alarms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-$495,000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False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 missed fraudsters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-$300,000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True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882 cleared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NET ANNUAL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$985,000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TOTAL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vs. no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$3,510,000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Fraud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What drives the model's decisions?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Total Cost (44.5%) - Dominant fraud signal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Avg Length of Stay (4.4%) - Hospital fraud pattern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Outpatient Total Cost (3.4%) - Outpatient fraud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Inpatient/Outpatient Ratio (3.0%) - Practice patterns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Total Claims (2.9%) - Volume anomalies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Key Insights from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Cost-based features dominate</a:t>
            </a:r>
          </a:p>
          <a:p>
            <a:pPr>
              <a:spcAft>
                <a:spcPts val="800"/>
              </a:spcAft>
              <a:defRPr sz="1400"/>
            </a:pPr>
            <a:r>
              <a:t>• Total Cost = 44.5% of decisions</a:t>
            </a:r>
          </a:p>
          <a:p>
            <a:pPr>
              <a:spcAft>
                <a:spcPts val="800"/>
              </a:spcAft>
              <a:defRPr sz="1400"/>
            </a:pPr>
            <a:r>
              <a:t>• Financial anomalies are clearest signals</a:t>
            </a:r>
          </a:p>
          <a:p>
            <a:pPr>
              <a:spcAft>
                <a:spcPts val="800"/>
              </a:spcAft>
              <a:defRPr sz="1400"/>
            </a:pPr>
            <a:r>
              <a:t>• </a:t>
            </a:r>
          </a:p>
          <a:p>
            <a:pPr>
              <a:spcAft>
                <a:spcPts val="800"/>
              </a:spcAft>
              <a:defRPr sz="1400"/>
            </a:pPr>
            <a:r>
              <a:t>• False Positives Pattern</a:t>
            </a:r>
          </a:p>
          <a:p>
            <a:pPr>
              <a:spcAft>
                <a:spcPts val="800"/>
              </a:spcAft>
              <a:defRPr sz="1400"/>
            </a:pPr>
            <a:r>
              <a:t>• High-cost specialty providers</a:t>
            </a:r>
          </a:p>
          <a:p>
            <a:pPr>
              <a:spcAft>
                <a:spcPts val="800"/>
              </a:spcAft>
              <a:defRPr sz="1400"/>
            </a:pPr>
            <a:r>
              <a:t>• Legitimate but expensive care</a:t>
            </a:r>
          </a:p>
          <a:p>
            <a:pPr>
              <a:spcAft>
                <a:spcPts val="800"/>
              </a:spcAft>
              <a:defRPr sz="1400"/>
            </a:pPr>
            <a:r>
              <a:t>• Surgical specialists, trauma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Inpatient features critical</a:t>
            </a:r>
          </a:p>
          <a:p>
            <a:pPr>
              <a:spcAft>
                <a:spcPts val="800"/>
              </a:spcAft>
              <a:defRPr sz="1400"/>
            </a:pPr>
            <a:r>
              <a:t>• ~30% combined importance</a:t>
            </a:r>
          </a:p>
          <a:p>
            <a:pPr>
              <a:spcAft>
                <a:spcPts val="800"/>
              </a:spcAft>
              <a:defRPr sz="1400"/>
            </a:pPr>
            <a:r>
              <a:t>• Higher fraud amounts, easier detection</a:t>
            </a:r>
          </a:p>
          <a:p>
            <a:pPr>
              <a:spcAft>
                <a:spcPts val="800"/>
              </a:spcAft>
              <a:defRPr sz="1400"/>
            </a:pPr>
            <a:r>
              <a:t>• </a:t>
            </a:r>
          </a:p>
          <a:p>
            <a:pPr>
              <a:spcAft>
                <a:spcPts val="800"/>
              </a:spcAft>
              <a:defRPr sz="1400"/>
            </a:pPr>
            <a:r>
              <a:t>• False Negatives Pattern</a:t>
            </a:r>
          </a:p>
          <a:p>
            <a:pPr>
              <a:spcAft>
                <a:spcPts val="800"/>
              </a:spcAft>
              <a:defRPr sz="1400"/>
            </a:pPr>
            <a:r>
              <a:t>• Sophisticated low-volume fraudsters</a:t>
            </a:r>
          </a:p>
          <a:p>
            <a:pPr>
              <a:spcAft>
                <a:spcPts val="800"/>
              </a:spcAft>
              <a:defRPr sz="1400"/>
            </a:pPr>
            <a:r>
              <a:t>• Stay under the radar deliberately</a:t>
            </a:r>
          </a:p>
          <a:p>
            <a:pPr>
              <a:spcAft>
                <a:spcPts val="800"/>
              </a:spcAft>
              <a:defRPr sz="1400"/>
            </a:pPr>
            <a:r>
              <a:t>• Subtle, consistent small-scale fraud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Challenges Identified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False Positives (99 cases at threshold 0.10)</a:t>
            </a:r>
          </a:p>
          <a:p>
            <a:pPr lvl="1">
              <a:defRPr sz="1600"/>
            </a:pPr>
            <a:r>
              <a:t>Legitimate high-cost specialists flagged</a:t>
            </a:r>
          </a:p>
          <a:p>
            <a:pPr lvl="1">
              <a:defRPr sz="1600"/>
            </a:pPr>
            <a:r>
              <a:t>Recommendation: Add specialty-specific baselines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False Negatives (12 cases at threshold 0.10)</a:t>
            </a:r>
          </a:p>
          <a:p>
            <a:pPr lvl="1">
              <a:defRPr sz="1600"/>
            </a:pPr>
            <a:r>
              <a:t>Sophisticated fraudsters with subtle patterns</a:t>
            </a:r>
          </a:p>
          <a:p>
            <a:pPr lvl="1">
              <a:defRPr sz="1600"/>
            </a:pPr>
            <a:r>
              <a:t>Recommendation: Add temporal and network features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Model cannot detect completely novel fraud schemes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Risk-Based Investigation Tiers</a:t>
            </a:r>
          </a:p>
          <a:p>
            <a:pPr lvl="1">
              <a:defRPr sz="1600"/>
            </a:pPr>
            <a:r>
              <a:t>Critical (prob &gt; 0.70): Immediate investigation</a:t>
            </a:r>
          </a:p>
          <a:p>
            <a:pPr lvl="1">
              <a:defRPr sz="1600"/>
            </a:pPr>
            <a:r>
              <a:t>High (0.50-0.70): Priority investigation within 30 days</a:t>
            </a:r>
          </a:p>
          <a:p>
            <a:pPr lvl="1">
              <a:defRPr sz="1600"/>
            </a:pPr>
            <a:r>
              <a:t>Medium (0.30-0.50): Secondary review and monitoring</a:t>
            </a:r>
          </a:p>
          <a:p>
            <a:pPr lvl="1">
              <a:defRPr sz="1600"/>
            </a:pPr>
            <a:r>
              <a:t>Low (0.10-0.30): Periodic monitoring</a:t>
            </a:r>
          </a:p>
          <a:p>
            <a:pPr lvl="1">
              <a:defRPr sz="1600"/>
            </a:pPr>
            <a:r>
              <a:t>Clear (&lt; 0.10): No action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Implementation Requirements</a:t>
            </a:r>
          </a:p>
          <a:p>
            <a:pPr lvl="1">
              <a:defRPr sz="1600"/>
            </a:pPr>
            <a:r>
              <a:t>Integration with claims database</a:t>
            </a:r>
          </a:p>
          <a:p>
            <a:pPr lvl="1">
              <a:defRPr sz="1600"/>
            </a:pPr>
            <a:r>
              <a:t>Automated monthly/weekly scoring</a:t>
            </a:r>
          </a:p>
          <a:p>
            <a:pPr lvl="1">
              <a:defRPr sz="1600"/>
            </a:pPr>
            <a:r>
              <a:t>Human-in-the-loop workflow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Immediate (0-3 months)</a:t>
            </a:r>
          </a:p>
          <a:p>
            <a:pPr>
              <a:spcAft>
                <a:spcPts val="800"/>
              </a:spcAft>
              <a:defRPr sz="1400"/>
            </a:pPr>
            <a:r>
              <a:t>• Deploy with threshold 0.10</a:t>
            </a:r>
          </a:p>
          <a:p>
            <a:pPr>
              <a:spcAft>
                <a:spcPts val="800"/>
              </a:spcAft>
              <a:defRPr sz="1400"/>
            </a:pPr>
            <a:r>
              <a:t>• Establish risk tier workflow</a:t>
            </a:r>
          </a:p>
          <a:p>
            <a:pPr>
              <a:spcAft>
                <a:spcPts val="800"/>
              </a:spcAft>
              <a:defRPr sz="1400"/>
            </a:pPr>
            <a:r>
              <a:t>• Create feedback mechanism</a:t>
            </a:r>
          </a:p>
          <a:p>
            <a:pPr>
              <a:spcAft>
                <a:spcPts val="800"/>
              </a:spcAft>
              <a:defRPr sz="1400"/>
            </a:pPr>
            <a:r>
              <a:t>• Track investigation outcomes</a:t>
            </a:r>
          </a:p>
          <a:p>
            <a:pPr>
              <a:spcAft>
                <a:spcPts val="800"/>
              </a:spcAft>
              <a:defRPr sz="1400"/>
            </a:pPr>
            <a:r>
              <a:t>• </a:t>
            </a:r>
          </a:p>
          <a:p>
            <a:pPr>
              <a:spcAft>
                <a:spcPts val="800"/>
              </a:spcAft>
              <a:defRPr sz="1400"/>
            </a:pPr>
            <a:r>
              <a:t>• Short-term (3-6 months)</a:t>
            </a:r>
          </a:p>
          <a:p>
            <a:pPr>
              <a:spcAft>
                <a:spcPts val="800"/>
              </a:spcAft>
              <a:defRPr sz="1400"/>
            </a:pPr>
            <a:r>
              <a:t>• Add temporal features</a:t>
            </a:r>
          </a:p>
          <a:p>
            <a:pPr>
              <a:spcAft>
                <a:spcPts val="800"/>
              </a:spcAft>
              <a:defRPr sz="1400"/>
            </a:pPr>
            <a:r>
              <a:t>• Include network analysis</a:t>
            </a:r>
          </a:p>
          <a:p>
            <a:pPr>
              <a:spcAft>
                <a:spcPts val="800"/>
              </a:spcAft>
              <a:defRPr sz="1400"/>
            </a:pPr>
            <a:r>
              <a:t>• Develop specialty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Long-term (6-12 months)</a:t>
            </a:r>
          </a:p>
          <a:p>
            <a:pPr>
              <a:spcAft>
                <a:spcPts val="800"/>
              </a:spcAft>
              <a:defRPr sz="1400"/>
            </a:pPr>
            <a:r>
              <a:t>• Real-time fraud detection</a:t>
            </a:r>
          </a:p>
          <a:p>
            <a:pPr>
              <a:spcAft>
                <a:spcPts val="800"/>
              </a:spcAft>
              <a:defRPr sz="1400"/>
            </a:pPr>
            <a:r>
              <a:t>• SHAP value explanations</a:t>
            </a:r>
          </a:p>
          <a:p>
            <a:pPr>
              <a:spcAft>
                <a:spcPts val="800"/>
              </a:spcAft>
              <a:defRPr sz="1400"/>
            </a:pPr>
            <a:r>
              <a:t>• Continuous learning pipeline</a:t>
            </a:r>
          </a:p>
          <a:p>
            <a:pPr>
              <a:spcAft>
                <a:spcPts val="800"/>
              </a:spcAft>
              <a:defRPr sz="1400"/>
            </a:pPr>
            <a:r>
              <a:t>• Quarterly model retraining</a:t>
            </a:r>
          </a:p>
          <a:p>
            <a:pPr>
              <a:spcAft>
                <a:spcPts val="800"/>
              </a:spcAft>
              <a:defRPr sz="1400"/>
            </a:pPr>
            <a:r>
              <a:t>• </a:t>
            </a:r>
          </a:p>
          <a:p>
            <a:pPr>
              <a:spcAft>
                <a:spcPts val="800"/>
              </a:spcAft>
              <a:defRPr sz="1400"/>
            </a:pPr>
            <a:r>
              <a:t>• Future Research</a:t>
            </a:r>
          </a:p>
          <a:p>
            <a:pPr>
              <a:spcAft>
                <a:spcPts val="800"/>
              </a:spcAft>
              <a:defRPr sz="1400"/>
            </a:pPr>
            <a:r>
              <a:t>• Deep learning approaches</a:t>
            </a:r>
          </a:p>
          <a:p>
            <a:pPr>
              <a:spcAft>
                <a:spcPts val="800"/>
              </a:spcAft>
              <a:defRPr sz="1400"/>
            </a:pPr>
            <a:r>
              <a:t>• Anomaly detection for novel fraud</a:t>
            </a:r>
          </a:p>
          <a:p>
            <a:pPr>
              <a:spcAft>
                <a:spcPts val="800"/>
              </a:spcAft>
              <a:defRPr sz="1400"/>
            </a:pPr>
            <a:r>
              <a:t>• Multi-modal learning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Project Successfully Demonstrates ML Value for Fraud Detection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Achievements</a:t>
            </a:r>
          </a:p>
          <a:p>
            <a:pPr lvl="1">
              <a:defRPr sz="1600"/>
            </a:pPr>
            <a:r>
              <a:t>ROC-AUC: 0.963 - Excellent performance</a:t>
            </a:r>
          </a:p>
          <a:p>
            <a:pPr lvl="1">
              <a:defRPr sz="1600"/>
            </a:pPr>
            <a:r>
              <a:t>$3.5M annual savings potential</a:t>
            </a:r>
          </a:p>
          <a:p>
            <a:pPr lvl="1">
              <a:defRPr sz="1600"/>
            </a:pPr>
            <a:r>
              <a:t>88% fraud detection rate at optimal threshold</a:t>
            </a:r>
          </a:p>
          <a:p>
            <a:pPr lvl="1">
              <a:defRPr sz="1600"/>
            </a:pPr>
            <a:r>
              <a:t>Clear, interpretable model decisions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Ready for Deployment</a:t>
            </a:r>
          </a:p>
          <a:p>
            <a:pPr lvl="1">
              <a:defRPr sz="1600"/>
            </a:pPr>
            <a:r>
              <a:t>Comprehensive evaluation completed</a:t>
            </a:r>
          </a:p>
          <a:p>
            <a:pPr lvl="1">
              <a:defRPr sz="1600"/>
            </a:pPr>
            <a:r>
              <a:t>Business value clearly demonstrated</a:t>
            </a:r>
          </a:p>
          <a:p>
            <a:pPr lvl="1">
              <a:defRPr sz="1600"/>
            </a:pPr>
            <a:r>
              <a:t>Deployment strategy defined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1F4788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Healthcare Provider Fraud Detection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